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  <p:sldId id="259" r:id="rId5"/>
    <p:sldId id="260" r:id="rId6"/>
    <p:sldId id="261" r:id="rId7"/>
    <p:sldId id="262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3722"/>
    <a:srgbClr val="034329"/>
    <a:srgbClr val="04643D"/>
    <a:srgbClr val="07B5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1522" y="4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215EE-D297-AB26-BAB4-0918A90A12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B491B1-6592-A2E7-0220-F74312464C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33229-8415-EA81-C076-56754AFB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277CD-0D13-BF23-6B44-31F1CC333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8F05E-5BA2-03B0-7ACA-3F07C01E9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043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93BB-EA1E-1F43-EF1B-025876554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178CF-1FAD-6AFC-0C5A-24C8425DF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2664E-6916-A07E-35E3-55E530AD7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A6ADB-F6B4-377F-3373-AED0DB375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85863-7A95-F711-81AA-3BF8D5B0E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9435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A9801-7CEB-6659-7EF9-C2FA85CF2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04EBBB-9ED2-EF9E-D347-B6DDFCB3F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80121-AB50-7F35-0907-8E407A886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5DFE7-D2AD-6441-ED27-41B863CEA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67208-9D2C-7126-CE1F-9ABD90918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571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8E177-6486-9CE2-3C03-A02CCF43C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415E6-CE24-0275-95F3-65EBBE4C09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FE25B1-0F16-6C2B-FF27-DADD5A4EDD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25200-3EFA-E839-D7C0-9B61CAA47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88387C-A4A8-889A-D37A-CEBF7384B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BE7BE-527A-AF43-4E17-EF08584CD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7269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7BA4A-0EB3-9A6D-4D30-C87FAE507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7B9A5-436C-BA39-E8F4-407D5821A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940DC2-71EC-6249-7911-64779DB925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5A510A-EA8D-E66A-2D4A-EB7B2FFD8B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4A520B-2AA8-3FB5-FFEB-9DFE33823B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AE98E8-8C8F-B10D-0B68-8B6AF70DE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A011F1-8057-3D32-2857-03E1AF006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D6EABA-F14D-11A7-E345-559823BBD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535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17AA8-61AE-7E30-08F6-F2F5CB08D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E97377-E79C-AB9A-1099-08D0B5452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61E707-A95A-1BA6-1AA5-7DB423621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7E4AEA-CB19-1678-7BF8-729003FD6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905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69A4B0-EC67-8004-320C-E38814E6A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7570D2-A42D-1C27-5A1A-B433D1518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1903B6-259D-EC95-73BD-4F3BF8356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233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8669D-CF28-7F8E-2839-715839CFA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7040E-7379-F864-59C8-F00878A46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62AECF-1E2E-31D7-3063-BDCA5359C9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225D88-F87B-49D8-0178-1BD385151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EF538F-5B87-BDD6-4520-1C03FC7A3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EDDF54-397B-C78A-83AC-29C4D149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76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3FDF1-CC3D-5E3C-877F-79D16017F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42A58F-BA4F-DAD6-FE52-B3EA4EB99E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FF6FD3-8060-771D-969B-82B5A56D8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B22AE6-E74E-0795-CD7D-ECC6C1BBE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6AE077-784B-C712-DEBA-BC5DEE1C8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10DCD-340B-441E-B543-CD21F563B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951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4C925-0743-C811-F7E1-8EF7C089F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7F8183-9202-3782-2231-610014B3FF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3DE05-4F34-B00E-1E4F-8FCE2C89E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10D37-730C-56A9-C845-F2D48723A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CC0B6-CC1C-E7FA-781F-645B99B39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93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27E03D-8D2D-C4ED-7753-628C3F1713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3FFADB-FBCE-EE5E-1381-A204A0918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C841D-7BC5-9FB9-25BE-94A9F19C5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65257-A991-8304-686A-BA2064780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73489-46C1-ADC5-7C02-0254181D0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107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C72111-5A28-3031-FA4E-FECD1468D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0D495-20D0-5BD3-E82E-16CB7F312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0E192-7D7E-FC86-BD81-F62E060E9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56D77-E087-49B0-8F15-7C6F25930B27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F42C0-A650-AA15-C023-F989FA7ED5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0F9B9-34A9-1ED6-394D-8DB7A1F6F1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226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C5CE3-F652-D97E-4577-DB20EF232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6EA1949-F4F2-2DD0-0591-D19F5DF3CC46}"/>
              </a:ext>
            </a:extLst>
          </p:cNvPr>
          <p:cNvSpPr/>
          <p:nvPr/>
        </p:nvSpPr>
        <p:spPr>
          <a:xfrm>
            <a:off x="0" y="0"/>
            <a:ext cx="12192000" cy="7182658"/>
          </a:xfrm>
          <a:prstGeom prst="rect">
            <a:avLst/>
          </a:prstGeom>
          <a:solidFill>
            <a:srgbClr val="033722">
              <a:alpha val="9294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F4643AB-D61C-2ABC-E9E7-2B5D6DBB6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5" y="0"/>
            <a:ext cx="10858490" cy="718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837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B86FC-C10F-1D3B-0475-712015637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0FD804B-0F65-AFE3-666D-E6E6AA7D9C8B}"/>
              </a:ext>
            </a:extLst>
          </p:cNvPr>
          <p:cNvSpPr/>
          <p:nvPr/>
        </p:nvSpPr>
        <p:spPr>
          <a:xfrm>
            <a:off x="0" y="0"/>
            <a:ext cx="12192000" cy="7182658"/>
          </a:xfrm>
          <a:prstGeom prst="rect">
            <a:avLst/>
          </a:prstGeom>
          <a:solidFill>
            <a:srgbClr val="033722">
              <a:alpha val="9294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755586-DCD4-551F-0F0E-239159D5E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02" y="0"/>
            <a:ext cx="10862195" cy="718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852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08133A-5407-C30A-54B3-DC15C4DD92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58E528D-2892-6A45-4C24-B8227F7A5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340" y="-1008460"/>
            <a:ext cx="2931320" cy="2931320"/>
          </a:xfrm>
          <a:prstGeom prst="rect">
            <a:avLst/>
          </a:prstGeom>
        </p:spPr>
      </p:pic>
      <p:sp>
        <p:nvSpPr>
          <p:cNvPr id="15" name="TextBox 2">
            <a:extLst>
              <a:ext uri="{FF2B5EF4-FFF2-40B4-BE49-F238E27FC236}">
                <a16:creationId xmlns:a16="http://schemas.microsoft.com/office/drawing/2014/main" id="{29587701-AF85-1F14-A092-A0912960C168}"/>
              </a:ext>
            </a:extLst>
          </p:cNvPr>
          <p:cNvSpPr txBox="1"/>
          <p:nvPr/>
        </p:nvSpPr>
        <p:spPr>
          <a:xfrm>
            <a:off x="371473" y="105173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STEPS IN PROJECT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DDC72388-B144-F944-4425-0C3624835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335" y="1635145"/>
            <a:ext cx="7896227" cy="4611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Requirement Gathering/ Business Requirements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Data Walkthrough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Data Connection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Data Cleaning / Quality Check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Data Modeling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Data 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DAX Calculations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Dashboard Lay outing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Charts Development and Formatting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Dashboard / Report Development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Insights Generation</a:t>
            </a:r>
          </a:p>
        </p:txBody>
      </p:sp>
    </p:spTree>
    <p:extLst>
      <p:ext uri="{BB962C8B-B14F-4D97-AF65-F5344CB8AC3E}">
        <p14:creationId xmlns:p14="http://schemas.microsoft.com/office/powerpoint/2010/main" val="2305185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1E3D0-59FF-FC4F-3B45-5C9A6CFF2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A13DFD3-6C87-DF81-E279-293F02B5D29E}"/>
              </a:ext>
            </a:extLst>
          </p:cNvPr>
          <p:cNvSpPr txBox="1"/>
          <p:nvPr/>
        </p:nvSpPr>
        <p:spPr>
          <a:xfrm>
            <a:off x="371473" y="10287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9215E3-F33C-FCB6-1092-4E887560084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74B9A8-E395-91E3-3ABA-42F6B7C96E87}"/>
              </a:ext>
            </a:extLst>
          </p:cNvPr>
          <p:cNvSpPr txBox="1"/>
          <p:nvPr/>
        </p:nvSpPr>
        <p:spPr>
          <a:xfrm>
            <a:off x="390524" y="1587238"/>
            <a:ext cx="11296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In today’s digital music era, understanding listening patterns is crucial for both users and streaming platforms. This analysis focuses on Spotify Albums Data, providing insights into user engagement with albums over time.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37A861-D8E1-8337-FEB7-59E6204965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340" y="-1008460"/>
            <a:ext cx="2931320" cy="29313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A5A4A5-F9DD-D8BE-D769-45C72052BB66}"/>
              </a:ext>
            </a:extLst>
          </p:cNvPr>
          <p:cNvSpPr txBox="1"/>
          <p:nvPr/>
        </p:nvSpPr>
        <p:spPr>
          <a:xfrm>
            <a:off x="390524" y="2722095"/>
            <a:ext cx="11296651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🎵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Total Albums Played Over Time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– Track how album listening trends change over months and years.</a:t>
            </a:r>
            <a:b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📅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Number of Albums Listened by Year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– Identify annual listening habits and volume (Find the Min and Max Albums in the view).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💥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Albums Played on Weekday &amp; Weekend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Identify the Pattern of music listening on weekdays and weekends.</a:t>
            </a:r>
            <a:b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🏆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Top 5 Albums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– Identify the most played albums based on listening frequency.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📊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Latest Year vs Previous Year Analysis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– Compare album consumption between the latest and previous years, including: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LY (Latest Year) vs PY (Previous Year) Trends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YoY (Year-over-Year) Growth Analysis</a:t>
            </a: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E8B584F7-EEB2-BA73-D400-1486D9B44672}"/>
              </a:ext>
            </a:extLst>
          </p:cNvPr>
          <p:cNvSpPr txBox="1"/>
          <p:nvPr/>
        </p:nvSpPr>
        <p:spPr>
          <a:xfrm>
            <a:off x="371473" y="2233569"/>
            <a:ext cx="200977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 Display" panose="020B0004020202020204" pitchFamily="34" charset="0"/>
                <a:ea typeface="Segoe UI Black" panose="020B0A02040204020203" pitchFamily="34" charset="0"/>
              </a:rPr>
              <a:t>ALBUMS</a:t>
            </a:r>
          </a:p>
        </p:txBody>
      </p:sp>
    </p:spTree>
    <p:extLst>
      <p:ext uri="{BB962C8B-B14F-4D97-AF65-F5344CB8AC3E}">
        <p14:creationId xmlns:p14="http://schemas.microsoft.com/office/powerpoint/2010/main" val="1162450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FA4A6-7A52-3A84-3992-EB113CB8D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5FA4D77-C3AB-A7E4-E3A4-AE565C272C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B726590B-AB6C-E743-C89B-C59D3CA2E43D}"/>
              </a:ext>
            </a:extLst>
          </p:cNvPr>
          <p:cNvSpPr txBox="1"/>
          <p:nvPr/>
        </p:nvSpPr>
        <p:spPr>
          <a:xfrm>
            <a:off x="371473" y="10287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31A90F-39F4-DA25-CAC6-15D1B2C5A1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340" y="-1008460"/>
            <a:ext cx="2931320" cy="29313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92AFB0-2314-59D2-23B4-CA4880059586}"/>
              </a:ext>
            </a:extLst>
          </p:cNvPr>
          <p:cNvSpPr txBox="1"/>
          <p:nvPr/>
        </p:nvSpPr>
        <p:spPr>
          <a:xfrm>
            <a:off x="390524" y="2283945"/>
            <a:ext cx="11296651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🎵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Total Artists Played Over Time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Track how artist listening trends evolve across months and years.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📅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Number of Artists Listened by Year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Identify annual listening habits and artist diversity.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(Find the Min and Max Artists in the view).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💥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Artists Played on Weekday &amp; Weekend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Identify the Pattern of music listening on weekdays and weekends.</a:t>
            </a:r>
            <a:b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🏆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Top 5 Artists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– Identify the most played artists based on listening frequency.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📊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Latest Year vs Previous Year Analysis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Compare artist engagement between the latest and previous years, including: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LY (Latest Year) vs PY (Previous Year) Trends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YoY (Year-over-Year) Growth Analysis</a:t>
            </a: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5039711B-0987-257A-4C52-A7CC40B163C8}"/>
              </a:ext>
            </a:extLst>
          </p:cNvPr>
          <p:cNvSpPr txBox="1"/>
          <p:nvPr/>
        </p:nvSpPr>
        <p:spPr>
          <a:xfrm>
            <a:off x="491129" y="1811699"/>
            <a:ext cx="200977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 Display" panose="020B0004020202020204" pitchFamily="34" charset="0"/>
                <a:ea typeface="Segoe UI Black" panose="020B0A02040204020203" pitchFamily="34" charset="0"/>
              </a:rPr>
              <a:t>ARTISTS</a:t>
            </a:r>
          </a:p>
        </p:txBody>
      </p:sp>
    </p:spTree>
    <p:extLst>
      <p:ext uri="{BB962C8B-B14F-4D97-AF65-F5344CB8AC3E}">
        <p14:creationId xmlns:p14="http://schemas.microsoft.com/office/powerpoint/2010/main" val="1056997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32EE1-E81B-793D-C38E-F54123E97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4521633-E1B7-D047-6DEE-687E8659B4B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B2EAB466-28C5-38FE-5C67-4D05E908B75D}"/>
              </a:ext>
            </a:extLst>
          </p:cNvPr>
          <p:cNvSpPr txBox="1"/>
          <p:nvPr/>
        </p:nvSpPr>
        <p:spPr>
          <a:xfrm>
            <a:off x="371473" y="10287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10EF60-9C0F-9929-3C62-A8120915D0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340" y="-1008460"/>
            <a:ext cx="2931320" cy="29313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547B9A-E7E5-0275-BC60-4235D4B41548}"/>
              </a:ext>
            </a:extLst>
          </p:cNvPr>
          <p:cNvSpPr txBox="1"/>
          <p:nvPr/>
        </p:nvSpPr>
        <p:spPr>
          <a:xfrm>
            <a:off x="390524" y="2283945"/>
            <a:ext cx="11296651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🎵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Total Tracks Played Over Time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–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Monitor how track listening trends change across months and years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📅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Number of Tracks Listened by Year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–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Identify annual listening habits and track diversity.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(Find the Min and Max Tracks in the view).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💥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Tracks Played on Weekday &amp; Weekend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Identify the Pattern of music listening on weekdays and weekends.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🏆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Top 5 Tracks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–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Identify the most played tracks based on listening frequency.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📊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Latest Year vs Previous Year Analysis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–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Compare track engagement between the latest and previous years, including: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LY (Latest Year) vs PY (Previous Year) Trends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YoY (Year-over-Year) Growth Analysis</a:t>
            </a: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0D9BE8EC-0FB9-AE95-F549-CAB72D14F317}"/>
              </a:ext>
            </a:extLst>
          </p:cNvPr>
          <p:cNvSpPr txBox="1"/>
          <p:nvPr/>
        </p:nvSpPr>
        <p:spPr>
          <a:xfrm>
            <a:off x="390524" y="1797251"/>
            <a:ext cx="200977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 Display" panose="020B0004020202020204" pitchFamily="34" charset="0"/>
                <a:ea typeface="Segoe UI Black" panose="020B0A02040204020203" pitchFamily="34" charset="0"/>
              </a:rPr>
              <a:t>TRACKS</a:t>
            </a:r>
          </a:p>
        </p:txBody>
      </p:sp>
    </p:spTree>
    <p:extLst>
      <p:ext uri="{BB962C8B-B14F-4D97-AF65-F5344CB8AC3E}">
        <p14:creationId xmlns:p14="http://schemas.microsoft.com/office/powerpoint/2010/main" val="3204376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A04C3-4D19-7545-37F7-86ECF353D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258FE27-E8F5-7734-54B6-BADA8DA75B1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502534F-7DEC-AA9D-6A40-CAAF6C4559B6}"/>
              </a:ext>
            </a:extLst>
          </p:cNvPr>
          <p:cNvSpPr txBox="1"/>
          <p:nvPr/>
        </p:nvSpPr>
        <p:spPr>
          <a:xfrm>
            <a:off x="371473" y="10287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C9A57B-4494-4DFF-7CA5-8D1B61944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340" y="-1008460"/>
            <a:ext cx="2931320" cy="2931320"/>
          </a:xfrm>
          <a:prstGeom prst="rect">
            <a:avLst/>
          </a:prstGeom>
        </p:spPr>
      </p:pic>
      <p:sp>
        <p:nvSpPr>
          <p:cNvPr id="11" name="TextBox 2">
            <a:extLst>
              <a:ext uri="{FF2B5EF4-FFF2-40B4-BE49-F238E27FC236}">
                <a16:creationId xmlns:a16="http://schemas.microsoft.com/office/drawing/2014/main" id="{541C8A4D-7A76-EA53-69B1-3F4B0EB2873D}"/>
              </a:ext>
            </a:extLst>
          </p:cNvPr>
          <p:cNvSpPr txBox="1"/>
          <p:nvPr/>
        </p:nvSpPr>
        <p:spPr>
          <a:xfrm>
            <a:off x="390523" y="1657245"/>
            <a:ext cx="4343401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 Display" panose="020B0004020202020204" pitchFamily="34" charset="0"/>
                <a:ea typeface="Segoe UI Black" panose="020B0A02040204020203" pitchFamily="34" charset="0"/>
              </a:rPr>
              <a:t>LISTENING</a:t>
            </a:r>
            <a:r>
              <a:rPr lang="en-IN" sz="2800" b="1" dirty="0">
                <a:solidFill>
                  <a:srgbClr val="FFFF00"/>
                </a:solidFill>
                <a:latin typeface="Algerian" panose="04020705040A02060702" pitchFamily="82" charset="0"/>
                <a:ea typeface="Segoe UI Black" panose="020B0A02040204020203" pitchFamily="34" charset="0"/>
              </a:rPr>
              <a:t> </a:t>
            </a: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 Display" panose="020B0004020202020204" pitchFamily="34" charset="0"/>
                <a:ea typeface="Segoe UI Black" panose="020B0A02040204020203" pitchFamily="34" charset="0"/>
              </a:rPr>
              <a:t>PATTERNS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F534FE-C98B-6CBB-78A1-27817823FD7E}"/>
              </a:ext>
            </a:extLst>
          </p:cNvPr>
          <p:cNvSpPr txBox="1"/>
          <p:nvPr/>
        </p:nvSpPr>
        <p:spPr>
          <a:xfrm>
            <a:off x="390523" y="2285789"/>
            <a:ext cx="11430002" cy="3737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</a:rPr>
              <a:t>🕒 </a:t>
            </a: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Listening Hours Analysis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– Identify peak listening times using a </a:t>
            </a:r>
            <a:r>
              <a:rPr lang="en-US" sz="2000" b="1" dirty="0">
                <a:solidFill>
                  <a:schemeClr val="bg1"/>
                </a:solidFill>
              </a:rPr>
              <a:t>Heat Map</a:t>
            </a:r>
            <a:r>
              <a:rPr lang="en-US" sz="2000" dirty="0">
                <a:solidFill>
                  <a:schemeClr val="bg1"/>
                </a:solidFill>
              </a:rPr>
              <a:t> that visualizes patterns across hours and days with color intensity.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📊 </a:t>
            </a: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Average Listening Time (min) vs Track Frequency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– Use a </a:t>
            </a:r>
            <a:r>
              <a:rPr lang="en-US" sz="2000" b="1" dirty="0">
                <a:solidFill>
                  <a:schemeClr val="bg1"/>
                </a:solidFill>
              </a:rPr>
              <a:t>Scatter Plot with Quadrant Analysis</a:t>
            </a:r>
            <a:r>
              <a:rPr lang="en-US" sz="2000" dirty="0">
                <a:solidFill>
                  <a:schemeClr val="bg1"/>
                </a:solidFill>
              </a:rPr>
              <a:t> to categorize tracks based on: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</a:rPr>
              <a:t>High Frequency &amp; High Listening Time</a:t>
            </a:r>
            <a:r>
              <a:rPr lang="en-US" sz="2000" dirty="0">
                <a:solidFill>
                  <a:schemeClr val="bg1"/>
                </a:solidFill>
              </a:rPr>
              <a:t> – Most engaging tracks 🎯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</a:rPr>
              <a:t>Low Frequency &amp; High Listening Time</a:t>
            </a:r>
            <a:r>
              <a:rPr lang="en-US" sz="2000" dirty="0">
                <a:solidFill>
                  <a:schemeClr val="bg1"/>
                </a:solidFill>
              </a:rPr>
              <a:t> – Niche but impactful tracks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</a:rPr>
              <a:t>High Frequency &amp; Low Listening Time</a:t>
            </a:r>
            <a:r>
              <a:rPr lang="en-US" sz="2000" dirty="0">
                <a:solidFill>
                  <a:schemeClr val="bg1"/>
                </a:solidFill>
              </a:rPr>
              <a:t> – Short &amp; frequently played tracks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</a:rPr>
              <a:t>Low Frequency &amp; Low Listening Time</a:t>
            </a:r>
            <a:r>
              <a:rPr lang="en-US" sz="2000" dirty="0">
                <a:solidFill>
                  <a:schemeClr val="bg1"/>
                </a:solidFill>
              </a:rPr>
              <a:t> – Less popular tracks</a:t>
            </a:r>
          </a:p>
        </p:txBody>
      </p:sp>
    </p:spTree>
    <p:extLst>
      <p:ext uri="{BB962C8B-B14F-4D97-AF65-F5344CB8AC3E}">
        <p14:creationId xmlns:p14="http://schemas.microsoft.com/office/powerpoint/2010/main" val="1827540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7218A-33E9-0459-314E-3E52BD6EE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C7A3CF9-BC3F-B8DE-1902-195E3A3BB51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09B2BC15-B978-EAA3-0559-633383F1876A}"/>
              </a:ext>
            </a:extLst>
          </p:cNvPr>
          <p:cNvSpPr txBox="1"/>
          <p:nvPr/>
        </p:nvSpPr>
        <p:spPr>
          <a:xfrm>
            <a:off x="371473" y="10287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26F6D1-9846-2C84-4906-EC6A642E65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340" y="-1008460"/>
            <a:ext cx="2931320" cy="2931320"/>
          </a:xfrm>
          <a:prstGeom prst="rect">
            <a:avLst/>
          </a:prstGeom>
        </p:spPr>
      </p:pic>
      <p:sp>
        <p:nvSpPr>
          <p:cNvPr id="11" name="TextBox 2">
            <a:extLst>
              <a:ext uri="{FF2B5EF4-FFF2-40B4-BE49-F238E27FC236}">
                <a16:creationId xmlns:a16="http://schemas.microsoft.com/office/drawing/2014/main" id="{2E68FBD4-6FF5-44BB-2A13-4982BE268BEE}"/>
              </a:ext>
            </a:extLst>
          </p:cNvPr>
          <p:cNvSpPr txBox="1"/>
          <p:nvPr/>
        </p:nvSpPr>
        <p:spPr>
          <a:xfrm>
            <a:off x="390523" y="1562359"/>
            <a:ext cx="4343401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 Display" panose="020B0004020202020204" pitchFamily="34" charset="0"/>
                <a:ea typeface="Segoe UI Black" panose="020B0A02040204020203" pitchFamily="34" charset="0"/>
              </a:rPr>
              <a:t>DETAILS</a:t>
            </a:r>
            <a:r>
              <a:rPr lang="en-IN" sz="2800" b="1" dirty="0">
                <a:solidFill>
                  <a:srgbClr val="FFFF00"/>
                </a:solidFill>
                <a:latin typeface="Algerian" panose="04020705040A02060702" pitchFamily="82" charset="0"/>
                <a:ea typeface="Segoe UI Black" panose="020B0A02040204020203" pitchFamily="34" charset="0"/>
              </a:rPr>
              <a:t> </a:t>
            </a: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 Display" panose="020B0004020202020204" pitchFamily="34" charset="0"/>
                <a:ea typeface="Segoe UI Black" panose="020B0A02040204020203" pitchFamily="34" charset="0"/>
              </a:rPr>
              <a:t>GRID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55BC68-4EB1-FC2F-A6E7-D99DD9EAD0AC}"/>
              </a:ext>
            </a:extLst>
          </p:cNvPr>
          <p:cNvSpPr txBox="1"/>
          <p:nvPr/>
        </p:nvSpPr>
        <p:spPr>
          <a:xfrm>
            <a:off x="390523" y="2159908"/>
            <a:ext cx="1143000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In this report, we aim to analyze Spotify data by creating an interactive and dynamic </a:t>
            </a:r>
            <a:r>
              <a:rPr lang="en-US" sz="2000" b="1" dirty="0">
                <a:solidFill>
                  <a:schemeClr val="bg1"/>
                </a:solidFill>
              </a:rPr>
              <a:t>Grid View</a:t>
            </a:r>
            <a:r>
              <a:rPr lang="en-US" sz="2000" dirty="0">
                <a:solidFill>
                  <a:schemeClr val="bg1"/>
                </a:solidFill>
              </a:rPr>
              <a:t>. The Grid will display key details such as </a:t>
            </a:r>
            <a:r>
              <a:rPr lang="en-US" sz="2000" b="1" dirty="0">
                <a:solidFill>
                  <a:schemeClr val="bg1"/>
                </a:solidFill>
              </a:rPr>
              <a:t>Album Name, Artist Name, Track Name,</a:t>
            </a:r>
            <a:r>
              <a:rPr lang="en-US" sz="2000" dirty="0">
                <a:solidFill>
                  <a:schemeClr val="bg1"/>
                </a:solidFill>
              </a:rPr>
              <a:t> and other relevant attributes.</a:t>
            </a:r>
            <a:br>
              <a:rPr lang="en-US" sz="2000" dirty="0">
                <a:solidFill>
                  <a:schemeClr val="bg1"/>
                </a:solidFill>
              </a:rPr>
            </a:b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rgbClr val="FFFF00"/>
                </a:solidFill>
              </a:rPr>
              <a:t>Key Requirements: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Grid View with Essential Fields:</a:t>
            </a:r>
            <a:endParaRPr lang="en-US" sz="20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The Grid should present critical data points for an intuitive and structured view.</a:t>
            </a:r>
          </a:p>
          <a:p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2. Drill Through Functionality: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Users should be able to drill through from the main reports to explore underlying data for detailed insights.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The drilled-through data should be exportable to a CSV file based on user requirements.</a:t>
            </a:r>
          </a:p>
          <a:p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3. Drill Down, Drill Up, and Hierarchy: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The Grid should support hierarchical navigation, allowing users to drill down and up for in-depth data exploration.</a:t>
            </a:r>
          </a:p>
        </p:txBody>
      </p:sp>
    </p:spTree>
    <p:extLst>
      <p:ext uri="{BB962C8B-B14F-4D97-AF65-F5344CB8AC3E}">
        <p14:creationId xmlns:p14="http://schemas.microsoft.com/office/powerpoint/2010/main" val="3498528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</TotalTime>
  <Words>669</Words>
  <Application>Microsoft Office PowerPoint</Application>
  <PresentationFormat>Widescreen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Algerian</vt:lpstr>
      <vt:lpstr>Aptos Display</vt:lpstr>
      <vt:lpstr>Arial</vt:lpstr>
      <vt:lpstr>Arial Rounded MT Bold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 A</dc:creator>
  <cp:lastModifiedBy>Yash Kothari</cp:lastModifiedBy>
  <cp:revision>18</cp:revision>
  <dcterms:created xsi:type="dcterms:W3CDTF">2025-02-24T07:50:09Z</dcterms:created>
  <dcterms:modified xsi:type="dcterms:W3CDTF">2026-07-08T03:30:26Z</dcterms:modified>
</cp:coreProperties>
</file>